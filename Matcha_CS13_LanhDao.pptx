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fddef41f5e4b74" /><Relationship Type="http://schemas.openxmlformats.org/officeDocument/2006/relationships/extended-properties" Target="/docProps/app.xml" Id="R7351584088464cb1" /><Relationship Type="http://schemas.openxmlformats.org/officeDocument/2006/relationships/officeDocument" Target="/ppt/presentation.xml" Id="R8da2c913844e45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34fbedae1d4328"/>
  </p:sldMasterIdLst>
  <p:notesMasterIdLst>
    <p:notesMasterId xmlns:r="http://schemas.openxmlformats.org/officeDocument/2006/relationships" r:id="R93bcc12a6cd74d75"/>
  </p:notesMasterIdLst>
  <p:sldIdLst>
    <p:sldId xmlns:r="http://schemas.openxmlformats.org/officeDocument/2006/relationships" id="256" r:id="R0af21101e99842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4e18d9ec53416e" /><Relationship Type="http://schemas.openxmlformats.org/officeDocument/2006/relationships/slideMaster" Target="/ppt/slideMasters/slideMaster1.xml" Id="Rcb34fbedae1d4328" /><Relationship Type="http://schemas.openxmlformats.org/officeDocument/2006/relationships/notesMaster" Target="/ppt/notesMasters/notesMaster1.xml" Id="R93bcc12a6cd74d75" /><Relationship Type="http://schemas.openxmlformats.org/officeDocument/2006/relationships/presProps" Target="/ppt/presProps.xml" Id="Rb50d1c4ccb344c56" /><Relationship Type="http://schemas.openxmlformats.org/officeDocument/2006/relationships/tableStyles" Target="/ppt/tableStyles.xml" Id="R59e68e8b288c43c1" /><Relationship Type="http://schemas.openxmlformats.org/officeDocument/2006/relationships/slide" Target="/ppt/slides/slide1.xml" Id="R0af21101e99842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39f22b2fe740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4abc1369ea44e3" /><Relationship Type="http://schemas.openxmlformats.org/officeDocument/2006/relationships/notesMaster" Target="/ppt/notesMasters/notesMaster1.xml" Id="R3f24baa65df74d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72723173f642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70ab13cfb548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9079bd5f2c408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7535ce249549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9a3a9ccdd04a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159d092c8c4e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E9FCB9-0E63-4581-BA2A-97AD9C8D9C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74991D-B599-40D5-A7D7-AB7D594FA5B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6A28C7A-1FBA-4C6F-AF1B-3AC93A6CB2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44EAAA-0E9E-4129-8CA3-D85647FA82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57C774A-4067-4617-A0EE-90324B3ED2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641340-D243-490E-8686-545A85D76F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ED546C-8D30-4E1D-9079-3EE7FF8BA4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0D8A972-96B1-4A40-AAA6-B02BF555E3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637EE1-0B93-4602-945F-4CE9E3BC61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39B38E-4CCA-4C4B-8A9D-5A3C6E8D1E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be097bbdb84dcc" /><Relationship Type="http://schemas.openxmlformats.org/officeDocument/2006/relationships/slideLayout" Target="/ppt/slideLayouts/slideLayout1.xml" Id="R8d775c8e1ae44684" /><Relationship Type="http://schemas.openxmlformats.org/officeDocument/2006/relationships/slideLayout" Target="/ppt/slideLayouts/slideLayout2.xml" Id="Rb8e2d56bf9954567" /><Relationship Type="http://schemas.openxmlformats.org/officeDocument/2006/relationships/slideLayout" Target="/ppt/slideLayouts/slideLayout3.xml" Id="Reee8ec08401842e0" /><Relationship Type="http://schemas.openxmlformats.org/officeDocument/2006/relationships/slideLayout" Target="/ppt/slideLayouts/slideLayout4.xml" Id="R4d3f7756c8fe40d2" /><Relationship Type="http://schemas.openxmlformats.org/officeDocument/2006/relationships/slideLayout" Target="/ppt/slideLayouts/slideLayout5.xml" Id="R5bc6a43eb56445f7" /><Relationship Type="http://schemas.openxmlformats.org/officeDocument/2006/relationships/slideLayout" Target="/ppt/slideLayouts/slideLayout6.xml" Id="R74f14352021945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775c8e1ae44684"/>
    <p:sldLayoutId xmlns:r="http://schemas.openxmlformats.org/officeDocument/2006/relationships" id="2147483650" r:id="Rb8e2d56bf9954567"/>
    <p:sldLayoutId xmlns:r="http://schemas.openxmlformats.org/officeDocument/2006/relationships" id="2147483651" r:id="Reee8ec08401842e0"/>
    <p:sldLayoutId xmlns:r="http://schemas.openxmlformats.org/officeDocument/2006/relationships" id="2147483652" r:id="R4d3f7756c8fe40d2"/>
    <p:sldLayoutId xmlns:r="http://schemas.openxmlformats.org/officeDocument/2006/relationships" id="2147483653" r:id="R5bc6a43eb56445f7"/>
    <p:sldLayoutId xmlns:r="http://schemas.openxmlformats.org/officeDocument/2006/relationships" id="2147483654" r:id="R74f14352021945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23acb49816418c" /><Relationship Type="http://schemas.openxmlformats.org/officeDocument/2006/relationships/notesSlide" Target="/ppt/notesSlides/notesSlide1.xml" Id="R45070fba55c240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70E46F-AE44-4D30-AD83-0C63F894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7F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4F7F5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7F56"/>
                </a:solidFill>
                <a:latin typeface="Arial"/>
                <a:ea typeface="Arial"/>
                <a:cs typeface="Arial"/>
              </a:rPr>
              <a:t>MATCHA  /  CS13 · ĐỀ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96039-862E-4258-93E0-BE14410A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A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A32"/>
                </a:solidFill>
                <a:latin typeface="Arial"/>
                <a:ea typeface="Arial"/>
                <a:cs typeface="Arial"/>
              </a:rPr>
              <a:t>Lộ trình SổSạch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BCCE6-6DEC-4085-9615-1CEDFD09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2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2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23C"/>
                </a:solidFill>
                <a:latin typeface="Arial"/>
                <a:ea typeface="Arial"/>
                <a:cs typeface="Arial"/>
              </a:rPr>
              <a:t>Tăng tự động theo bằng chứng; giữ người kiểm soát lỗi MST và tiền.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B2D56-CC91-47C9-94D1-531FFA6A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7"/>
          </a:solidFill>
          <a:ln xmlns:a="http://schemas.openxmlformats.org/drawingml/2006/main" w="0">
            <a:solidFill>
              <a:srgbClr val="D8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C4ECE-0A68-4D13-9C0E-3FC05292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9867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BB9"/>
          </a:solidFill>
          <a:ln xmlns:a="http://schemas.openxmlformats.org/drawingml/2006/main" w="0">
            <a:solidFill>
              <a:srgbClr val="B7CBB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3660B-D73C-410A-B211-B19B4386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76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F56"/>
          </a:solidFill>
          <a:ln xmlns:a="http://schemas.openxmlformats.org/drawingml/2006/main" w="0">
            <a:solidFill>
              <a:srgbClr val="4F7F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ED395-3FF5-4D81-B1BD-D70215D9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76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F56"/>
          </a:solidFill>
          <a:ln xmlns:a="http://schemas.openxmlformats.org/drawingml/2006/main" w="0">
            <a:solidFill>
              <a:srgbClr val="4F7F5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668D1-7B0B-4285-8C69-B130EC3F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76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F56"/>
          </a:solidFill>
          <a:ln xmlns:a="http://schemas.openxmlformats.org/drawingml/2006/main" w="0">
            <a:solidFill>
              <a:srgbClr val="4F7F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42E703-1A90-4022-971D-DC1BEFCE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F7F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4F7F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F7F56"/>
                </a:solidFill>
                <a:latin typeface="Arial"/>
                <a:ea typeface="Arial"/>
                <a:cs typeface="Arial"/>
              </a:rPr>
              <a:t>0–3 THÁNG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4D699-8368-4EA4-85E3-8A85699F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3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A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A32"/>
                </a:solidFill>
                <a:latin typeface="Arial"/>
                <a:ea typeface="Arial"/>
                <a:cs typeface="Arial"/>
              </a:rPr>
              <a:t>Tích hợp và thí điểm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0ED89-D4C3-4215-BD70-F0E970BC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3086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3442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3442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4423C"/>
                </a:solidFill>
                <a:latin typeface="Arial"/>
                <a:ea typeface="Arial"/>
                <a:cs typeface="Arial"/>
              </a:rPr>
              <a:t>Tra MST, dùng nhập XML sẵn có, gắn cờ rủi ro. Bản 2 đã đạt 97,3% trên 40 ca; tuần đầu chuyên gia kiểm 1% hóa đơn thật.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FC8ED-503E-4C20-9B30-4E68FE84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F7F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4F7F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F7F56"/>
                </a:solidFill>
                <a:latin typeface="Arial"/>
                <a:ea typeface="Arial"/>
                <a:cs typeface="Arial"/>
              </a:rPr>
              <a:t>3–6 THÁNG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DC3C8-146A-42FC-9C24-BE890E53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05125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3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A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A32"/>
                </a:solidFill>
                <a:latin typeface="Arial"/>
                <a:ea typeface="Arial"/>
                <a:cs typeface="Arial"/>
              </a:rPr>
              <a:t>Hạ duyệt khi đạt cổng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B70F64-BC3E-40B4-AB4C-BCF158D3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76625"/>
            <a:ext cx="3086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3442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3442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4423C"/>
                </a:solidFill>
                <a:latin typeface="Arial"/>
                <a:ea typeface="Arial"/>
                <a:cs typeface="Arial"/>
              </a:rPr>
              <a:t>Chỉ chuyển sang 10% duyệt sau 60 hóa đơn thật từ ≥10 văn phòng, 0 lỗi MST/tiền và cờ thừa ≤20%.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D54A3-0BDD-4014-B30F-9BE13A6F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F7F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4F7F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F7F56"/>
                </a:solidFill>
                <a:latin typeface="Arial"/>
                <a:ea typeface="Arial"/>
                <a:cs typeface="Arial"/>
              </a:rPr>
              <a:t>6–12 THÁNG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BF17F8-944E-480A-86FE-C3661385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05125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3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A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A32"/>
                </a:solidFill>
                <a:latin typeface="Arial"/>
                <a:ea typeface="Arial"/>
                <a:cs typeface="Arial"/>
              </a:rPr>
              <a:t>Mở rộng có giám sát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0FEBA0-73E1-4064-A9F5-D4987581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76625"/>
            <a:ext cx="3086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3442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3442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4423C"/>
                </a:solidFill>
                <a:latin typeface="Arial"/>
                <a:ea typeface="Arial"/>
                <a:cs typeface="Arial"/>
              </a:rPr>
              <a:t>Thử 120 hóa đơn từ ≥10 văn phòng; cần 0 lỗi trọng yếu, không tụt tầng và cờ thừa ≤15%. Duyệt mẫu 5%.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E9A78-5E66-4C01-9856-106B0552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7"/>
          </a:solidFill>
          <a:ln xmlns:a="http://schemas.openxmlformats.org/drawingml/2006/main" w="0">
            <a:solidFill>
              <a:srgbClr val="D8DE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AAAE4C-9933-43B8-8D7B-7C27D0E5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7F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4F7F5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7F56"/>
                </a:solidFill>
                <a:latin typeface="Arial"/>
                <a:ea typeface="Arial"/>
                <a:cs typeface="Arial"/>
              </a:rPr>
              <a:t>NGUỒN LỰC &amp; KINH TẾ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6E64FF-B4C7-4B6C-B8B4-067A8835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442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442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23C"/>
                </a:solidFill>
                <a:latin typeface="Arial"/>
                <a:ea typeface="Arial"/>
                <a:cs typeface="Arial"/>
              </a:rPr>
              <a:t>Hạnh có 3 giờ/tuần; một vòng chấm 40 ca đã dùng 8,5 giờ chuyên gia. Ở Mức 1, duyệt 20% tốn 704 đ/việc; biên gộp ước tính 68,8%.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9F671F-1515-4ADE-8833-568E59A5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0537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7F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4F7F5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7F56"/>
                </a:solidFill>
                <a:latin typeface="Arial"/>
                <a:ea typeface="Arial"/>
                <a:cs typeface="Arial"/>
              </a:rPr>
              <a:t>RỦI RO &amp; QUYẾT ĐỊNH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9D46C5-F5DD-48CF-97A6-C4F474FB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1970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442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442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23C"/>
                </a:solidFill>
                <a:latin typeface="Arial"/>
                <a:ea typeface="Arial"/>
                <a:cs typeface="Arial"/>
              </a:rPr>
              <a:t>65% doanh thu đến từ 30% văn phòng dùng nhiều. Xem lại ngày 30/60/90; dừng mở rộng nếu doanh thu bình quân &lt;3,71 triệu/VP trong 2 tháng liên tiếp trên ≥10 VP.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37CB50-6351-4C0B-A63F-A154259F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62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7"/>
          </a:solidFill>
          <a:ln xmlns:a="http://schemas.openxmlformats.org/drawingml/2006/main" w="0">
            <a:solidFill>
              <a:srgbClr val="D8DE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ACB186-6A3C-4518-A62A-40B6DE59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573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573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36B"/>
                </a:solidFill>
                <a:latin typeface="Arial"/>
                <a:ea typeface="Arial"/>
                <a:cs typeface="Arial"/>
              </a:rPr>
              <a:t>Căn cứ: Hồ sơ tình huống CS13, Đề 1 · Ngưỡng thử nghiệm là đề xuất của nhóm, cần xác nhận bằng dữ liệu thật.</a:t>
            </a:r>
          </a:p>
        </p:txBody>
      </p:sp>
    </p:spTree>
    <p:extLst>
      <p:ext uri="{BB962C8B-B14F-4D97-AF65-F5344CB8AC3E}">
        <p14:creationId xmlns:p14="http://schemas.microsoft.com/office/powerpoint/2010/main" val="16048928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2026-10-16T09:17:13.5300000Z</dcterms:created>
  <dcterms:modified xsi:type="dcterms:W3CDTF">2026-10-16T09:17:13.5300000Z</dcterms:modified>
</coreProperties>
</file>