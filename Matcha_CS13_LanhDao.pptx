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a15632d574418a" /><Relationship Type="http://schemas.openxmlformats.org/officeDocument/2006/relationships/extended-properties" Target="/docProps/app.xml" Id="R178cddf4de514e08" /><Relationship Type="http://schemas.openxmlformats.org/officeDocument/2006/relationships/officeDocument" Target="/ppt/presentation.xml" Id="Rb31a0a9ca9e346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017ed44a7e4ec0"/>
  </p:sldMasterIdLst>
  <p:notesMasterIdLst>
    <p:notesMasterId xmlns:r="http://schemas.openxmlformats.org/officeDocument/2006/relationships" r:id="R9902b64bf28341a7"/>
  </p:notesMasterIdLst>
  <p:sldIdLst>
    <p:sldId xmlns:r="http://schemas.openxmlformats.org/officeDocument/2006/relationships" id="256" r:id="Rf5add8f998b74a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c1884b802e4dfc" /><Relationship Type="http://schemas.openxmlformats.org/officeDocument/2006/relationships/slideMaster" Target="/ppt/slideMasters/slideMaster1.xml" Id="Rd8017ed44a7e4ec0" /><Relationship Type="http://schemas.openxmlformats.org/officeDocument/2006/relationships/notesMaster" Target="/ppt/notesMasters/notesMaster1.xml" Id="R9902b64bf28341a7" /><Relationship Type="http://schemas.openxmlformats.org/officeDocument/2006/relationships/presProps" Target="/ppt/presProps.xml" Id="R67a2948407344e41" /><Relationship Type="http://schemas.openxmlformats.org/officeDocument/2006/relationships/tableStyles" Target="/ppt/tableStyles.xml" Id="R3825bbb536bb467a" /><Relationship Type="http://schemas.openxmlformats.org/officeDocument/2006/relationships/slide" Target="/ppt/slides/slide1.xml" Id="Rf5add8f998b74a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a278c6854a4c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4b326fbe4641ee" /><Relationship Type="http://schemas.openxmlformats.org/officeDocument/2006/relationships/notesMaster" Target="/ppt/notesMasters/notesMaster1.xml" Id="Rd68b99e9bfcf4d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0be525c0e245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5a7e90c887416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647c1c4c34a9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698f8aacf421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705b2334c44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2892a01a0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D0CA97D-08A8-4FCE-9E3D-A2FF35096F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D60D641-63AB-493C-98F9-3AA555011D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D0E13E3-A2D1-4189-B3C4-72D5B24672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E4B732-F7FE-497A-9C26-3B2CBDF119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52FA15A-CA39-4275-B89E-5851F10C9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0B37774-F7E5-4213-83BE-AC808D8D1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F6CD094-CB72-4572-AE4C-15352DF6A9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709B887-56CA-454F-A7EF-45A7DF17C60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683E3D-292A-4913-BCC8-41C2F73A4E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C0CB37-7437-47F4-87D3-58A33CA3AB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0977b5211c4d2d" /><Relationship Type="http://schemas.openxmlformats.org/officeDocument/2006/relationships/slideLayout" Target="/ppt/slideLayouts/slideLayout1.xml" Id="Rba212feaa4084650" /><Relationship Type="http://schemas.openxmlformats.org/officeDocument/2006/relationships/slideLayout" Target="/ppt/slideLayouts/slideLayout2.xml" Id="Raf8b0f6450e34db4" /><Relationship Type="http://schemas.openxmlformats.org/officeDocument/2006/relationships/slideLayout" Target="/ppt/slideLayouts/slideLayout3.xml" Id="R72b263cc6cc74af2" /><Relationship Type="http://schemas.openxmlformats.org/officeDocument/2006/relationships/slideLayout" Target="/ppt/slideLayouts/slideLayout4.xml" Id="R4f365408b2c14cd9" /><Relationship Type="http://schemas.openxmlformats.org/officeDocument/2006/relationships/slideLayout" Target="/ppt/slideLayouts/slideLayout5.xml" Id="Redaa86b6059c4ba7" /><Relationship Type="http://schemas.openxmlformats.org/officeDocument/2006/relationships/slideLayout" Target="/ppt/slideLayouts/slideLayout6.xml" Id="R5e19909cbf0f41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212feaa4084650"/>
    <p:sldLayoutId xmlns:r="http://schemas.openxmlformats.org/officeDocument/2006/relationships" id="2147483650" r:id="Raf8b0f6450e34db4"/>
    <p:sldLayoutId xmlns:r="http://schemas.openxmlformats.org/officeDocument/2006/relationships" id="2147483651" r:id="R72b263cc6cc74af2"/>
    <p:sldLayoutId xmlns:r="http://schemas.openxmlformats.org/officeDocument/2006/relationships" id="2147483652" r:id="R4f365408b2c14cd9"/>
    <p:sldLayoutId xmlns:r="http://schemas.openxmlformats.org/officeDocument/2006/relationships" id="2147483653" r:id="Redaa86b6059c4ba7"/>
    <p:sldLayoutId xmlns:r="http://schemas.openxmlformats.org/officeDocument/2006/relationships" id="2147483654" r:id="R5e19909cbf0f41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5a5edcde444439" /><Relationship Type="http://schemas.openxmlformats.org/officeDocument/2006/relationships/notesSlide" Target="/ppt/notesSlides/notesSlide1.xml" Id="R76fa53be377040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989DEF-B4EE-4FD1-A096-BC9C8472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F7F56"/>
                </a:solidFill>
                <a:latin typeface="Arial"/>
                <a:ea typeface="Arial"/>
                <a:cs typeface="Arial"/>
              </a:rPr>
              <a:t>MATCHA · LÊ THỊ DUYÊN &amp; NGUYỄN THÙY LINH · ĐỀ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9ECFC8-E30A-48EB-82B9-A62E8817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619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A32"/>
                </a:solidFill>
                <a:latin typeface="Arial"/>
                <a:ea typeface="Arial"/>
                <a:cs typeface="Arial"/>
              </a:rPr>
              <a:t>Lộ trình SổSạch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D1EE1-337F-4F85-BFC6-55FD828F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423C"/>
                </a:solidFill>
                <a:latin typeface="Arial"/>
                <a:ea typeface="Arial"/>
                <a:cs typeface="Arial"/>
              </a:rPr>
              <a:t>Tăng tự động theo bằng chứng; giữ người kiểm soát lỗi MST và tiền.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5CCA3-EAF8-4228-A515-45218263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7"/>
          </a:solidFill>
          <a:ln xmlns:a="http://schemas.openxmlformats.org/drawingml/2006/main" w="0">
            <a:solidFill>
              <a:srgbClr val="D8DED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FE12EC-7FCA-4EAD-BB21-5BF02C07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9867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BB9"/>
          </a:solidFill>
          <a:ln xmlns:a="http://schemas.openxmlformats.org/drawingml/2006/main" w="0">
            <a:solidFill>
              <a:srgbClr val="B7CBB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E0579-AE71-4BD3-8E02-1D33031C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76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56"/>
          </a:solidFill>
          <a:ln xmlns:a="http://schemas.openxmlformats.org/drawingml/2006/main" w="0">
            <a:solidFill>
              <a:srgbClr val="4F7F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875E5-FEA4-4AE8-924E-4D6A4595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76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56"/>
          </a:solidFill>
          <a:ln xmlns:a="http://schemas.openxmlformats.org/drawingml/2006/main" w="0">
            <a:solidFill>
              <a:srgbClr val="4F7F5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C658C-073D-419A-841F-88760ACC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76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56"/>
          </a:solidFill>
          <a:ln xmlns:a="http://schemas.openxmlformats.org/drawingml/2006/main" w="0">
            <a:solidFill>
              <a:srgbClr val="4F7F5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40AA5-75F3-4380-AF50-6CFF87C7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7F56"/>
                </a:solidFill>
                <a:latin typeface="Arial"/>
                <a:ea typeface="Arial"/>
                <a:cs typeface="Arial"/>
              </a:rPr>
              <a:t>0–3 THÁNG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A304B-EC83-469B-8A86-94CF67BE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086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A32"/>
                </a:solidFill>
                <a:latin typeface="Arial"/>
                <a:ea typeface="Arial"/>
                <a:cs typeface="Arial"/>
              </a:rPr>
              <a:t>Tích hợp và thí điểm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08F50F-B287-4084-8B03-4C085E31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86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4423C"/>
                </a:solidFill>
                <a:latin typeface="Arial"/>
                <a:ea typeface="Arial"/>
                <a:cs typeface="Arial"/>
              </a:rPr>
              <a:t>Tra MST, dùng nhập XML sẵn có, gắn cờ rủi ro. Bản 2 đã đạt 97,3% trên 40 ca; tuần đầu chuyên gia kiểm 1% hóa đơn thật.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6E504-0999-4C08-9328-B3007372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7F56"/>
                </a:solidFill>
                <a:latin typeface="Arial"/>
                <a:ea typeface="Arial"/>
                <a:cs typeface="Arial"/>
              </a:rPr>
              <a:t>3–6 THÁNG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8DFED-E0E5-4A5C-8344-239CF787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05125"/>
            <a:ext cx="3086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A32"/>
                </a:solidFill>
                <a:latin typeface="Arial"/>
                <a:ea typeface="Arial"/>
                <a:cs typeface="Arial"/>
              </a:rPr>
              <a:t>Hạ duyệt khi đạt cổng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F1F83-0B27-4C74-920E-67AF551E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76625"/>
            <a:ext cx="3086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4423C"/>
                </a:solidFill>
                <a:latin typeface="Arial"/>
                <a:ea typeface="Arial"/>
                <a:cs typeface="Arial"/>
              </a:rPr>
              <a:t>Chỉ chuyển sang 10% duyệt sau 60 hóa đơn thật từ ≥10 văn phòng, 0 lỗi MST/tiền và cờ thừa ≤20%.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1B12B7-100C-4638-A8DB-A8F63862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71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7F56"/>
                </a:solidFill>
                <a:latin typeface="Arial"/>
                <a:ea typeface="Arial"/>
                <a:cs typeface="Arial"/>
              </a:rPr>
              <a:t>6–12 THÁNG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5065A2-AA43-4209-B5E1-8192EF02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05125"/>
            <a:ext cx="3086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A3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A32"/>
                </a:solidFill>
                <a:latin typeface="Arial"/>
                <a:ea typeface="Arial"/>
                <a:cs typeface="Arial"/>
              </a:rPr>
              <a:t>Mở rộng có giám sát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6FAE3-145C-4F70-A437-76361E73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086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4423C"/>
                </a:solidFill>
                <a:latin typeface="Arial"/>
                <a:ea typeface="Arial"/>
                <a:cs typeface="Arial"/>
              </a:rPr>
              <a:t>Thử 120 hóa đơn từ ≥10 văn phòng; cần 0 lỗi trọng yếu, không tụt tầng và cờ thừa ≤15%. Duyệt mẫu 5%.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60C1A-E17B-41DD-89A2-ABCEBCE1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7"/>
          </a:solidFill>
          <a:ln xmlns:a="http://schemas.openxmlformats.org/drawingml/2006/main" w="0">
            <a:solidFill>
              <a:srgbClr val="D8DED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5294B-4604-438D-BD78-BAD0399A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7F56"/>
                </a:solidFill>
                <a:latin typeface="Arial"/>
                <a:ea typeface="Arial"/>
                <a:cs typeface="Arial"/>
              </a:rPr>
              <a:t>NGUỒN LỰC &amp; KINH TẾ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A26009-91E4-4535-A14E-BFFDD671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504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4423C"/>
                </a:solidFill>
                <a:latin typeface="Arial"/>
                <a:ea typeface="Arial"/>
                <a:cs typeface="Arial"/>
              </a:rPr>
              <a:t>Hạnh có 3 giờ/tuần; một vòng chấm 40 ca đã dùng 8,5 giờ chuyên gia. Ở Mức 1, duyệt 20% tốn 704 đ/việc; biên gộp ước tính 68,8%.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73ED0-611C-41D6-AA0F-941767F3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05375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F7F5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7F56"/>
                </a:solidFill>
                <a:latin typeface="Arial"/>
                <a:ea typeface="Arial"/>
                <a:cs typeface="Arial"/>
              </a:rPr>
              <a:t>RỦI RO &amp; QUYẾT ĐỊNH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512690-AB33-41C7-81E9-D22EFEBA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219700"/>
            <a:ext cx="504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442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4423C"/>
                </a:solidFill>
                <a:latin typeface="Arial"/>
                <a:ea typeface="Arial"/>
                <a:cs typeface="Arial"/>
              </a:rPr>
              <a:t>65% doanh thu đến từ 30% văn phòng dùng nhiều. Xem lại ngày 30/60/90; dừng mở rộng nếu doanh thu bình quân &lt;3,71 triệu/VP trong 2 tháng liên tiếp trên ≥10 VP.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7B279D-367F-4695-85A2-6D0B741A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62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7"/>
          </a:solidFill>
          <a:ln xmlns:a="http://schemas.openxmlformats.org/drawingml/2006/main" w="0">
            <a:solidFill>
              <a:srgbClr val="D8DED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3F1D57-F0CD-4BCA-82D5-F9FA8F48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57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5736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5736B"/>
                </a:solidFill>
                <a:latin typeface="Arial"/>
                <a:ea typeface="Arial"/>
                <a:cs typeface="Arial"/>
              </a:rPr>
              <a:t>Căn cứ: Hồ sơ tình huống CS13, Đề 1 · Ngưỡng thử nghiệm là đề xuất của nhóm, cần xác nhận bằng dữ liệu thật.</a:t>
            </a:r>
          </a:p>
        </p:txBody>
      </p:sp>
    </p:spTree>
    <p:extLst>
      <p:ext uri="{BB962C8B-B14F-4D97-AF65-F5344CB8AC3E}">
        <p14:creationId xmlns:p14="http://schemas.microsoft.com/office/powerpoint/2010/main" val="257481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2026-10-16T10:12:44.2970000Z</dcterms:created>
  <dcterms:modified xsi:type="dcterms:W3CDTF">2026-10-16T10:12:44.2970000Z</dcterms:modified>
</coreProperties>
</file>